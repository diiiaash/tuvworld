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5" r:id="rId8"/>
    <p:sldId id="262" r:id="rId9"/>
    <p:sldId id="263" r:id="rId10"/>
    <p:sldId id="264" r:id="rId11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9517" autoAdjust="0"/>
    <p:restoredTop sz="94660"/>
  </p:normalViewPr>
  <p:slideViewPr>
    <p:cSldViewPr snapToGrid="0">
      <p:cViewPr varScale="1">
        <p:scale>
          <a:sx n="81" d="100"/>
          <a:sy n="81" d="100"/>
        </p:scale>
        <p:origin x="86" y="14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B25466-F2AA-417F-A785-CFBD75047377}" type="datetimeFigureOut">
              <a:rPr lang="ru-RU" smtClean="0"/>
              <a:t>13.11.2024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5FFCED-F913-4D7D-919F-38C1DD0EF62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092196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B25466-F2AA-417F-A785-CFBD75047377}" type="datetimeFigureOut">
              <a:rPr lang="ru-RU" smtClean="0"/>
              <a:t>13.11.2024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5FFCED-F913-4D7D-919F-38C1DD0EF62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62522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B25466-F2AA-417F-A785-CFBD75047377}" type="datetimeFigureOut">
              <a:rPr lang="ru-RU" smtClean="0"/>
              <a:t>13.11.2024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5FFCED-F913-4D7D-919F-38C1DD0EF62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807535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B25466-F2AA-417F-A785-CFBD75047377}" type="datetimeFigureOut">
              <a:rPr lang="ru-RU" smtClean="0"/>
              <a:t>13.11.2024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5FFCED-F913-4D7D-919F-38C1DD0EF62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898079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B25466-F2AA-417F-A785-CFBD75047377}" type="datetimeFigureOut">
              <a:rPr lang="ru-RU" smtClean="0"/>
              <a:t>13.11.2024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5FFCED-F913-4D7D-919F-38C1DD0EF62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230502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B25466-F2AA-417F-A785-CFBD75047377}" type="datetimeFigureOut">
              <a:rPr lang="ru-RU" smtClean="0"/>
              <a:t>13.11.2024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5FFCED-F913-4D7D-919F-38C1DD0EF62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917743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B25466-F2AA-417F-A785-CFBD75047377}" type="datetimeFigureOut">
              <a:rPr lang="ru-RU" smtClean="0"/>
              <a:t>13.11.2024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5FFCED-F913-4D7D-919F-38C1DD0EF62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517559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B25466-F2AA-417F-A785-CFBD75047377}" type="datetimeFigureOut">
              <a:rPr lang="ru-RU" smtClean="0"/>
              <a:t>13.11.2024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5FFCED-F913-4D7D-919F-38C1DD0EF62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738717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B25466-F2AA-417F-A785-CFBD75047377}" type="datetimeFigureOut">
              <a:rPr lang="ru-RU" smtClean="0"/>
              <a:t>13.11.2024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5FFCED-F913-4D7D-919F-38C1DD0EF62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034507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B25466-F2AA-417F-A785-CFBD75047377}" type="datetimeFigureOut">
              <a:rPr lang="ru-RU" smtClean="0"/>
              <a:t>13.11.2024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5FFCED-F913-4D7D-919F-38C1DD0EF62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333056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B25466-F2AA-417F-A785-CFBD75047377}" type="datetimeFigureOut">
              <a:rPr lang="ru-RU" smtClean="0"/>
              <a:t>13.11.2024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5FFCED-F913-4D7D-919F-38C1DD0EF62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176905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AB25466-F2AA-417F-A785-CFBD75047377}" type="datetimeFigureOut">
              <a:rPr lang="ru-RU" smtClean="0"/>
              <a:t>13.11.2024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95FFCED-F913-4D7D-919F-38C1DD0EF62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957372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3121890" y="1602790"/>
            <a:ext cx="6057109" cy="1999028"/>
          </a:xfrm>
        </p:spPr>
        <p:txBody>
          <a:bodyPr>
            <a:noAutofit/>
          </a:bodyPr>
          <a:lstStyle/>
          <a:p>
            <a:r>
              <a:rPr lang="ru-RU" sz="3200" dirty="0" smtClean="0"/>
              <a:t>Разработка сайта для помощи  </a:t>
            </a:r>
            <a:r>
              <a:rPr lang="ru-RU" sz="3200" dirty="0"/>
              <a:t>а</a:t>
            </a:r>
            <a:r>
              <a:rPr lang="ru-RU" sz="3200" dirty="0" smtClean="0"/>
              <a:t>кцентирование и орфоэпических ошибок </a:t>
            </a:r>
            <a:r>
              <a:rPr lang="ru-RU" sz="3200" dirty="0"/>
              <a:t>в речи иностранных студентов.</a:t>
            </a:r>
          </a:p>
        </p:txBody>
      </p:sp>
      <p:sp>
        <p:nvSpPr>
          <p:cNvPr id="5" name="Прямоугольник 4"/>
          <p:cNvSpPr/>
          <p:nvPr/>
        </p:nvSpPr>
        <p:spPr>
          <a:xfrm>
            <a:off x="2131652" y="329109"/>
            <a:ext cx="8037583" cy="68505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fontAlgn="auto">
              <a:lnSpc>
                <a:spcPct val="107000"/>
              </a:lnSpc>
              <a:spcAft>
                <a:spcPts val="0"/>
              </a:spcAft>
            </a:pPr>
            <a:r>
              <a:rPr lang="ru-RU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МИНОБР РФ</a:t>
            </a:r>
            <a:endParaRPr lang="ru-RU" sz="1600" dirty="0" smtClean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ctr" fontAlgn="auto">
              <a:lnSpc>
                <a:spcPct val="107000"/>
              </a:lnSpc>
              <a:spcAft>
                <a:spcPts val="0"/>
              </a:spcAft>
            </a:pPr>
            <a:r>
              <a:rPr lang="ru-RU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ФГБОУ ВО «Хакасский государственный университет им. Н.Ф. Катанова» </a:t>
            </a:r>
            <a:endParaRPr lang="ru-RU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6" name="Прямоугольник 5"/>
          <p:cNvSpPr/>
          <p:nvPr/>
        </p:nvSpPr>
        <p:spPr>
          <a:xfrm>
            <a:off x="5312319" y="6223433"/>
            <a:ext cx="1471108" cy="41088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lang="ru-RU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Абакан, 2024</a:t>
            </a:r>
            <a:endParaRPr lang="ru-RU" sz="1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7" name="Прямоугольник 6"/>
          <p:cNvSpPr/>
          <p:nvPr/>
        </p:nvSpPr>
        <p:spPr>
          <a:xfrm>
            <a:off x="5683281" y="4094004"/>
            <a:ext cx="6096000" cy="2357568"/>
          </a:xfrm>
          <a:prstGeom prst="rect">
            <a:avLst/>
          </a:prstGeom>
        </p:spPr>
        <p:txBody>
          <a:bodyPr>
            <a:spAutoFit/>
          </a:bodyPr>
          <a:lstStyle/>
          <a:p>
            <a:pPr marR="179070" algn="r">
              <a:lnSpc>
                <a:spcPct val="115000"/>
              </a:lnSpc>
              <a:spcAft>
                <a:spcPts val="0"/>
              </a:spcAft>
            </a:pPr>
            <a:r>
              <a:rPr lang="ru-RU" sz="1600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Выполнила</a:t>
            </a:r>
            <a:r>
              <a:rPr lang="en-US" sz="1600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:</a:t>
            </a:r>
          </a:p>
          <a:p>
            <a:pPr marR="179070" algn="r">
              <a:lnSpc>
                <a:spcPct val="115000"/>
              </a:lnSpc>
            </a:pPr>
            <a:r>
              <a:rPr lang="ru-RU" sz="16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Салчак</a:t>
            </a:r>
            <a:r>
              <a:rPr lang="ru-RU" sz="16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Дан-Хая </a:t>
            </a:r>
            <a:r>
              <a:rPr lang="ru-RU" sz="1600" dirty="0" err="1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Адыгжыевна</a:t>
            </a:r>
            <a:endParaRPr lang="en-US" sz="1600" dirty="0" smtClean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R="179070" algn="r">
              <a:lnSpc>
                <a:spcPct val="115000"/>
              </a:lnSpc>
              <a:spcAft>
                <a:spcPts val="0"/>
              </a:spcAft>
            </a:pPr>
            <a:r>
              <a:rPr lang="ru-RU" sz="1600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sz="16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студентка </a:t>
            </a:r>
            <a:r>
              <a:rPr lang="ru-RU" sz="1600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1 к., гр. ФиТ-303</a:t>
            </a:r>
            <a:endParaRPr lang="ru-RU" sz="1600" dirty="0" smtClean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R="179070" algn="r">
              <a:lnSpc>
                <a:spcPct val="115000"/>
              </a:lnSpc>
              <a:spcAft>
                <a:spcPts val="0"/>
              </a:spcAft>
            </a:pPr>
            <a:r>
              <a:rPr lang="ru-RU" sz="1600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Научный руководитель</a:t>
            </a:r>
            <a:r>
              <a:rPr lang="en-US" sz="1600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:</a:t>
            </a:r>
            <a:r>
              <a:rPr lang="ru-RU" sz="1600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</a:p>
          <a:p>
            <a:pPr marR="179070" algn="r">
              <a:lnSpc>
                <a:spcPct val="115000"/>
              </a:lnSpc>
              <a:spcAft>
                <a:spcPts val="0"/>
              </a:spcAft>
            </a:pPr>
            <a:r>
              <a:rPr lang="ru-RU" sz="1600" dirty="0" err="1" smtClean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Байыр</a:t>
            </a:r>
            <a:r>
              <a:rPr lang="ru-RU" sz="1600" dirty="0" smtClean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sz="1600" dirty="0" err="1" smtClean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Долаан</a:t>
            </a:r>
            <a:r>
              <a:rPr lang="ru-RU" sz="1600" dirty="0" smtClean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Борисович</a:t>
            </a:r>
          </a:p>
          <a:p>
            <a:pPr marR="179070" algn="r">
              <a:lnSpc>
                <a:spcPct val="115000"/>
              </a:lnSpc>
              <a:spcAft>
                <a:spcPts val="0"/>
              </a:spcAft>
            </a:pPr>
            <a:r>
              <a:rPr lang="ru-RU" sz="1600" dirty="0" smtClean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Преподаватель кафедры информатики</a:t>
            </a:r>
          </a:p>
          <a:p>
            <a:pPr marR="179070" algn="r">
              <a:lnSpc>
                <a:spcPct val="115000"/>
              </a:lnSpc>
              <a:spcAft>
                <a:spcPts val="0"/>
              </a:spcAft>
            </a:pPr>
            <a:r>
              <a:rPr lang="ru-RU" sz="16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ФГБОУ ВО «Тувинский государственный университет»</a:t>
            </a:r>
            <a:endParaRPr lang="ru-RU" sz="1600" dirty="0" smtClean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R="179070" algn="r">
              <a:lnSpc>
                <a:spcPct val="115000"/>
              </a:lnSpc>
              <a:spcAft>
                <a:spcPts val="0"/>
              </a:spcAft>
            </a:pPr>
            <a:endParaRPr lang="ru-RU" sz="16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945266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b="1" dirty="0"/>
              <a:t>ВВЕДЕНИЕ</a:t>
            </a:r>
          </a:p>
        </p:txBody>
      </p:sp>
      <p:sp>
        <p:nvSpPr>
          <p:cNvPr id="4" name="Прямоугольник 3"/>
          <p:cNvSpPr/>
          <p:nvPr/>
        </p:nvSpPr>
        <p:spPr>
          <a:xfrm>
            <a:off x="838200" y="1720840"/>
            <a:ext cx="10515600" cy="39703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450215" algn="just">
              <a:lnSpc>
                <a:spcPct val="150000"/>
              </a:lnSpc>
            </a:pPr>
            <a:r>
              <a:rPr lang="ru-RU" sz="2400" dirty="0"/>
              <a:t>Актуальность:</a:t>
            </a:r>
          </a:p>
          <a:p>
            <a:pPr indent="450215" algn="just">
              <a:lnSpc>
                <a:spcPct val="150000"/>
              </a:lnSpc>
              <a:spcAft>
                <a:spcPts val="0"/>
              </a:spcAft>
            </a:pPr>
            <a:r>
              <a:rPr lang="ru-RU" sz="2400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Акцентирование </a:t>
            </a:r>
            <a:r>
              <a:rPr lang="ru-RU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и орфоэпические ошибки в речи иностранных студентов представляют собой важную проблему в сфере образования и межкультурного общения. С ростом мобильности студентов и увеличением числа иностранных студентов в учебных заведениях возникает необходимость изучения данного явления и разработки эффективных методов исправления и профилактики таких ошибок.</a:t>
            </a:r>
            <a:endParaRPr lang="ru-RU" sz="2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1742821" y="6529137"/>
            <a:ext cx="914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 smtClean="0"/>
              <a:t>2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4630380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smtClean="0"/>
              <a:t>Цели и задачи </a:t>
            </a:r>
            <a:endParaRPr lang="ru-RU" dirty="0"/>
          </a:p>
        </p:txBody>
      </p:sp>
      <p:sp>
        <p:nvSpPr>
          <p:cNvPr id="4" name="Прямоугольник 3"/>
          <p:cNvSpPr/>
          <p:nvPr/>
        </p:nvSpPr>
        <p:spPr>
          <a:xfrm>
            <a:off x="838200" y="1403192"/>
            <a:ext cx="10776284" cy="507831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450215" algn="just">
              <a:lnSpc>
                <a:spcPct val="150000"/>
              </a:lnSpc>
              <a:spcAft>
                <a:spcPts val="0"/>
              </a:spcAft>
            </a:pPr>
            <a:r>
              <a:rPr lang="ru-RU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Целью </a:t>
            </a:r>
            <a:r>
              <a:rPr lang="ru-RU" sz="2400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данной работы </a:t>
            </a:r>
            <a:r>
              <a:rPr lang="ru-RU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является </a:t>
            </a:r>
            <a:r>
              <a:rPr lang="ru-RU" sz="2400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разработка веб-сайта и изучение </a:t>
            </a:r>
            <a:r>
              <a:rPr lang="ru-RU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акцентирования и орфоэпических ошибок речи иностранных </a:t>
            </a:r>
            <a:r>
              <a:rPr lang="ru-RU" sz="2400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студентов. </a:t>
            </a:r>
            <a:r>
              <a:rPr lang="ru-RU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Для достижения этой цели ставятся следующие задачи:</a:t>
            </a:r>
            <a:endParaRPr lang="ru-RU" sz="2400" dirty="0" smtClean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 algn="just">
              <a:lnSpc>
                <a:spcPct val="150000"/>
              </a:lnSpc>
              <a:spcAft>
                <a:spcPts val="0"/>
              </a:spcAft>
              <a:buFont typeface="+mj-lt"/>
              <a:buAutoNum type="arabicPeriod"/>
            </a:pPr>
            <a:r>
              <a:rPr lang="ru-RU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Анализировать причины возникновения акцентирования и орфоэпических ошибок.</a:t>
            </a:r>
            <a:endParaRPr lang="ru-RU" sz="2400" dirty="0" smtClean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 algn="just">
              <a:lnSpc>
                <a:spcPct val="150000"/>
              </a:lnSpc>
              <a:spcAft>
                <a:spcPts val="0"/>
              </a:spcAft>
              <a:buFont typeface="+mj-lt"/>
              <a:buAutoNum type="arabicPeriod"/>
            </a:pPr>
            <a:r>
              <a:rPr lang="ru-RU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Изучить рекомендации и методы для исправления и профилактики таких ошибок.</a:t>
            </a:r>
            <a:endParaRPr lang="ru-RU" sz="2400" dirty="0" smtClean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 algn="just">
              <a:lnSpc>
                <a:spcPct val="150000"/>
              </a:lnSpc>
              <a:spcAft>
                <a:spcPts val="0"/>
              </a:spcAft>
              <a:buFont typeface="+mj-lt"/>
              <a:buAutoNum type="arabicPeriod"/>
            </a:pPr>
            <a:r>
              <a:rPr lang="ru-RU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Разработать веб-сайт, который позволит иностранным студентам просматривать правильные ударения слов в помощь их обучению.</a:t>
            </a:r>
            <a:endParaRPr lang="ru-RU" sz="2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1742821" y="6529137"/>
            <a:ext cx="914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5976709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 smtClean="0"/>
              <a:t>Понятие акцента и его роль в речи иностранных студентов</a:t>
            </a:r>
            <a:endParaRPr lang="ru-RU" dirty="0"/>
          </a:p>
        </p:txBody>
      </p:sp>
      <p:sp>
        <p:nvSpPr>
          <p:cNvPr id="4" name="Прямоугольник 3"/>
          <p:cNvSpPr/>
          <p:nvPr/>
        </p:nvSpPr>
        <p:spPr>
          <a:xfrm>
            <a:off x="838200" y="1720840"/>
            <a:ext cx="10515600" cy="454752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450215" algn="just">
              <a:lnSpc>
                <a:spcPct val="150000"/>
              </a:lnSpc>
              <a:spcAft>
                <a:spcPts val="0"/>
              </a:spcAft>
            </a:pPr>
            <a:r>
              <a:rPr lang="ru-RU" sz="28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Акцент — произношение, в котором отражаются звуковые особенности чужого языка или наречия, реже индивидуального произношения. Акцент представляет собой особенность произношения, которая сохраняется у студентов из-за влияния их родного языка или диалекта. Он выражается в отличиях в произношении звуков и ритме речи и может сказываться на интонации и ударении слов.</a:t>
            </a:r>
            <a:endParaRPr lang="ru-RU" sz="2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1742821" y="6529137"/>
            <a:ext cx="914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38402376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 smtClean="0"/>
              <a:t>Орфоэпия как раздел фонетики и ее значение для правильного произношения</a:t>
            </a:r>
            <a:endParaRPr lang="ru-RU" dirty="0"/>
          </a:p>
        </p:txBody>
      </p:sp>
      <p:sp>
        <p:nvSpPr>
          <p:cNvPr id="4" name="Прямоугольник 3"/>
          <p:cNvSpPr/>
          <p:nvPr/>
        </p:nvSpPr>
        <p:spPr>
          <a:xfrm>
            <a:off x="433137" y="1690688"/>
            <a:ext cx="10920663" cy="51938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450215" algn="just">
              <a:lnSpc>
                <a:spcPct val="150000"/>
              </a:lnSpc>
              <a:spcAft>
                <a:spcPts val="0"/>
              </a:spcAft>
            </a:pPr>
            <a:r>
              <a:rPr lang="ru-RU" sz="28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Орфоэпия - это раздел фонетики, изучающий правильное произношение звуков, ударений и интонации в словах и речи в целом. Она помогает соблюдать нормативные требования произношения и осуществлять четкую и понятную коммуникацию.</a:t>
            </a:r>
            <a:endParaRPr lang="ru-RU" sz="2800" dirty="0" smtClean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457200" indent="450215" algn="just">
              <a:lnSpc>
                <a:spcPct val="150000"/>
              </a:lnSpc>
              <a:spcAft>
                <a:spcPts val="0"/>
              </a:spcAft>
            </a:pPr>
            <a:r>
              <a:rPr lang="ru-RU" sz="28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Главной целью орфоэпии является достижение правильного произношения звуков и слов в соответствии с нормами языка. Она также направлена на развитие слухового восприятия звуков и позволяет улучшить интонацию и ритм речи.</a:t>
            </a:r>
            <a:endParaRPr lang="ru-RU" sz="2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1742821" y="6529137"/>
            <a:ext cx="914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23930902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ru-RU" dirty="0" smtClean="0"/>
              <a:t>Методы исправления акцентологических и орфоэпических ошибок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838200" y="2448761"/>
            <a:ext cx="10515600" cy="4351338"/>
          </a:xfrm>
        </p:spPr>
        <p:txBody>
          <a:bodyPr/>
          <a:lstStyle/>
          <a:p>
            <a:r>
              <a:rPr lang="ru-RU" dirty="0" smtClean="0"/>
              <a:t>Анализ звуков и звуковой системы языка</a:t>
            </a:r>
          </a:p>
          <a:p>
            <a:r>
              <a:rPr lang="ru-RU" dirty="0" smtClean="0"/>
              <a:t>Слушание и подражание</a:t>
            </a:r>
          </a:p>
          <a:p>
            <a:r>
              <a:rPr lang="ru-RU" dirty="0" smtClean="0"/>
              <a:t>Игровые и интерактивные подходы</a:t>
            </a:r>
          </a:p>
          <a:p>
            <a:r>
              <a:rPr lang="ru-RU" dirty="0" smtClean="0"/>
              <a:t>Технические средства и веб сайты</a:t>
            </a:r>
            <a:endParaRPr lang="ru-RU" dirty="0"/>
          </a:p>
        </p:txBody>
      </p:sp>
      <p:sp>
        <p:nvSpPr>
          <p:cNvPr id="4" name="TextBox 3"/>
          <p:cNvSpPr txBox="1"/>
          <p:nvPr/>
        </p:nvSpPr>
        <p:spPr>
          <a:xfrm>
            <a:off x="11742821" y="6529137"/>
            <a:ext cx="914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30873005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 smtClean="0"/>
              <a:t>Средства разработки</a:t>
            </a:r>
            <a:endParaRPr lang="ru-RU" dirty="0"/>
          </a:p>
        </p:txBody>
      </p:sp>
      <p:pic>
        <p:nvPicPr>
          <p:cNvPr id="1026" name="Picture 2" descr="How to Make a Website with Javascript, HTML and CSS - Skywell Software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6972" b="19626"/>
          <a:stretch/>
        </p:blipFill>
        <p:spPr bwMode="auto">
          <a:xfrm>
            <a:off x="212725" y="1443038"/>
            <a:ext cx="6287475" cy="26527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Brackets — Википедия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34199" y="2247412"/>
            <a:ext cx="3696675" cy="36966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Windows 10 — ждать осталось недолго - Росконтроль"/>
          <p:cNvPicPr>
            <a:picLocks noChangeAspect="1" noChangeArrowheads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769" t="27537" r="19581" b="29207"/>
          <a:stretch/>
        </p:blipFill>
        <p:spPr bwMode="auto">
          <a:xfrm>
            <a:off x="2004400" y="4662744"/>
            <a:ext cx="4495800" cy="19095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/>
          <p:cNvSpPr txBox="1"/>
          <p:nvPr/>
        </p:nvSpPr>
        <p:spPr>
          <a:xfrm>
            <a:off x="11742821" y="6529137"/>
            <a:ext cx="914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237445388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 smtClean="0"/>
              <a:t>Веб-сайт</a:t>
            </a:r>
            <a:endParaRPr lang="ru-RU" dirty="0"/>
          </a:p>
        </p:txBody>
      </p:sp>
      <p:pic>
        <p:nvPicPr>
          <p:cNvPr id="4" name="Рисунок 3"/>
          <p:cNvPicPr/>
          <p:nvPr/>
        </p:nvPicPr>
        <p:blipFill>
          <a:blip r:embed="rId2"/>
          <a:stretch>
            <a:fillRect/>
          </a:stretch>
        </p:blipFill>
        <p:spPr>
          <a:xfrm>
            <a:off x="2348648" y="1401932"/>
            <a:ext cx="7494704" cy="516731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1742821" y="6529137"/>
            <a:ext cx="914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8</a:t>
            </a:r>
            <a:endParaRPr lang="ru-RU" dirty="0"/>
          </a:p>
        </p:txBody>
      </p:sp>
      <p:pic>
        <p:nvPicPr>
          <p:cNvPr id="6" name="Рисунок 5"/>
          <p:cNvPicPr/>
          <p:nvPr/>
        </p:nvPicPr>
        <p:blipFill>
          <a:blip r:embed="rId3"/>
          <a:stretch>
            <a:fillRect/>
          </a:stretch>
        </p:blipFill>
        <p:spPr>
          <a:xfrm>
            <a:off x="1203767" y="1401932"/>
            <a:ext cx="9102572" cy="5266481"/>
          </a:xfrm>
          <a:prstGeom prst="rect">
            <a:avLst/>
          </a:prstGeom>
        </p:spPr>
      </p:pic>
      <p:pic>
        <p:nvPicPr>
          <p:cNvPr id="7" name="Рисунок 6"/>
          <p:cNvPicPr/>
          <p:nvPr/>
        </p:nvPicPr>
        <p:blipFill>
          <a:blip r:embed="rId4"/>
          <a:stretch>
            <a:fillRect/>
          </a:stretch>
        </p:blipFill>
        <p:spPr>
          <a:xfrm>
            <a:off x="1203767" y="1208649"/>
            <a:ext cx="7662441" cy="56898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921619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 smtClean="0"/>
              <a:t>Заключение</a:t>
            </a:r>
            <a:endParaRPr lang="ru-RU" dirty="0"/>
          </a:p>
        </p:txBody>
      </p:sp>
      <p:sp>
        <p:nvSpPr>
          <p:cNvPr id="4" name="Прямоугольник 3"/>
          <p:cNvSpPr/>
          <p:nvPr/>
        </p:nvSpPr>
        <p:spPr>
          <a:xfrm>
            <a:off x="144380" y="1440064"/>
            <a:ext cx="11798968" cy="489364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450215" algn="just">
              <a:spcAft>
                <a:spcPts val="0"/>
              </a:spcAft>
            </a:pPr>
            <a:r>
              <a:rPr lang="ru-RU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Выводы исследовательской работы:</a:t>
            </a:r>
            <a:endParaRPr lang="ru-RU" sz="2400" dirty="0" smtClean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indent="450215" algn="just">
              <a:spcAft>
                <a:spcPts val="0"/>
              </a:spcAft>
            </a:pPr>
            <a:r>
              <a:rPr lang="ru-RU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Было рассмотрено понятие акцента и его роль в речи иностранных студентов, роль орфоэпии как раздела фонетики и ее значение для правильного произношения, акцентирование и орфоэпические ошибки, их причины возникновения и влияние на коммуникацию.</a:t>
            </a:r>
            <a:endParaRPr lang="ru-RU" sz="2400" dirty="0" smtClean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indent="450215" algn="just">
              <a:spcAft>
                <a:spcPts val="0"/>
              </a:spcAft>
            </a:pPr>
            <a:r>
              <a:rPr lang="ru-RU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Изучены основные рекомендации и методы для исправления и профилактики ошибок, они включают в себя слушание и повторение аудиоматериалов, изучение фонетических правил и особенностей языка, обращение к носителям языка для авторитетной обратной связи, использование технологических средств, таких как веб-сайты, для упражнений и </a:t>
            </a:r>
            <a:r>
              <a:rPr lang="ru-RU" sz="24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аудирования</a:t>
            </a:r>
            <a:r>
              <a:rPr lang="ru-RU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 а также постоянную практику и самоконтроль.</a:t>
            </a:r>
            <a:endParaRPr lang="ru-RU" sz="2400" dirty="0" smtClean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indent="450215" algn="just">
              <a:spcAft>
                <a:spcPts val="0"/>
              </a:spcAft>
            </a:pPr>
            <a:r>
              <a:rPr lang="ru-RU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Разработан обучающий веб-сайт с викториной для проверки пользователя. Веб-сайт предоставляет иностранным студентам возможность просматривать правильные ударения слов в помощь их обучению. </a:t>
            </a:r>
            <a:endParaRPr lang="ru-RU" sz="2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1742821" y="6529137"/>
            <a:ext cx="914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9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2350263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3121890" y="1602790"/>
            <a:ext cx="6057109" cy="1999028"/>
          </a:xfrm>
        </p:spPr>
        <p:txBody>
          <a:bodyPr>
            <a:noAutofit/>
          </a:bodyPr>
          <a:lstStyle/>
          <a:p>
            <a:r>
              <a:rPr lang="ru-RU" sz="3200" dirty="0" smtClean="0"/>
              <a:t>Разработка сайта для помощи  </a:t>
            </a:r>
            <a:r>
              <a:rPr lang="ru-RU" sz="3200" dirty="0"/>
              <a:t>а</a:t>
            </a:r>
            <a:r>
              <a:rPr lang="ru-RU" sz="3200" dirty="0" smtClean="0"/>
              <a:t>кцентирование и орфоэпических ошибок </a:t>
            </a:r>
            <a:r>
              <a:rPr lang="ru-RU" sz="3200" dirty="0"/>
              <a:t>в речи иностранных студентов.</a:t>
            </a:r>
          </a:p>
        </p:txBody>
      </p:sp>
      <p:sp>
        <p:nvSpPr>
          <p:cNvPr id="5" name="Прямоугольник 4"/>
          <p:cNvSpPr/>
          <p:nvPr/>
        </p:nvSpPr>
        <p:spPr>
          <a:xfrm>
            <a:off x="2131652" y="329109"/>
            <a:ext cx="8037583" cy="68505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fontAlgn="auto">
              <a:lnSpc>
                <a:spcPct val="107000"/>
              </a:lnSpc>
              <a:spcAft>
                <a:spcPts val="0"/>
              </a:spcAft>
            </a:pPr>
            <a:r>
              <a:rPr lang="ru-RU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Министерство образования и науки Российской Федерации </a:t>
            </a:r>
            <a:endParaRPr lang="ru-RU" sz="1600" dirty="0" smtClean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ctr" fontAlgn="auto">
              <a:lnSpc>
                <a:spcPct val="107000"/>
              </a:lnSpc>
              <a:spcAft>
                <a:spcPts val="0"/>
              </a:spcAft>
            </a:pPr>
            <a:r>
              <a:rPr lang="ru-RU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ФГБОУ ВО «Хакасский государственный университет им. Н.Ф. Катанова» </a:t>
            </a:r>
            <a:endParaRPr lang="ru-RU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6" name="Прямоугольник 5"/>
          <p:cNvSpPr/>
          <p:nvPr/>
        </p:nvSpPr>
        <p:spPr>
          <a:xfrm>
            <a:off x="5312319" y="6223433"/>
            <a:ext cx="1471108" cy="41088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lang="ru-RU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Абакан, 2024</a:t>
            </a:r>
            <a:endParaRPr lang="ru-RU" sz="1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7" name="Прямоугольник 6"/>
          <p:cNvSpPr/>
          <p:nvPr/>
        </p:nvSpPr>
        <p:spPr>
          <a:xfrm>
            <a:off x="5683281" y="4094004"/>
            <a:ext cx="6096000" cy="2357568"/>
          </a:xfrm>
          <a:prstGeom prst="rect">
            <a:avLst/>
          </a:prstGeom>
        </p:spPr>
        <p:txBody>
          <a:bodyPr>
            <a:spAutoFit/>
          </a:bodyPr>
          <a:lstStyle/>
          <a:p>
            <a:pPr marR="179070" algn="r">
              <a:lnSpc>
                <a:spcPct val="115000"/>
              </a:lnSpc>
              <a:spcAft>
                <a:spcPts val="0"/>
              </a:spcAft>
            </a:pPr>
            <a:r>
              <a:rPr lang="ru-RU" sz="1600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Выполнила</a:t>
            </a:r>
            <a:r>
              <a:rPr lang="en-US" sz="1600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:</a:t>
            </a:r>
          </a:p>
          <a:p>
            <a:pPr marR="179070" algn="r">
              <a:lnSpc>
                <a:spcPct val="115000"/>
              </a:lnSpc>
            </a:pPr>
            <a:r>
              <a:rPr lang="ru-RU" sz="16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Салчак</a:t>
            </a:r>
            <a:r>
              <a:rPr lang="ru-RU" sz="16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Дан-Хая </a:t>
            </a:r>
            <a:r>
              <a:rPr lang="ru-RU" sz="1600" dirty="0" err="1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Адыгжыевна</a:t>
            </a:r>
            <a:endParaRPr lang="en-US" sz="1600" dirty="0" smtClean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R="179070" algn="r">
              <a:lnSpc>
                <a:spcPct val="115000"/>
              </a:lnSpc>
              <a:spcAft>
                <a:spcPts val="0"/>
              </a:spcAft>
            </a:pPr>
            <a:r>
              <a:rPr lang="ru-RU" sz="1600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sz="16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студентка </a:t>
            </a:r>
            <a:r>
              <a:rPr lang="ru-RU" sz="1600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1 к., гр. ФиТ-303</a:t>
            </a:r>
            <a:endParaRPr lang="ru-RU" sz="1600" dirty="0" smtClean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R="179070" algn="r">
              <a:lnSpc>
                <a:spcPct val="115000"/>
              </a:lnSpc>
              <a:spcAft>
                <a:spcPts val="0"/>
              </a:spcAft>
            </a:pPr>
            <a:r>
              <a:rPr lang="ru-RU" sz="1600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Научный руководитель</a:t>
            </a:r>
            <a:r>
              <a:rPr lang="en-US" sz="1600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:</a:t>
            </a:r>
            <a:r>
              <a:rPr lang="ru-RU" sz="1600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</a:p>
          <a:p>
            <a:pPr marR="179070" algn="r">
              <a:lnSpc>
                <a:spcPct val="115000"/>
              </a:lnSpc>
              <a:spcAft>
                <a:spcPts val="0"/>
              </a:spcAft>
            </a:pPr>
            <a:r>
              <a:rPr lang="ru-RU" sz="1600" dirty="0" err="1" smtClean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Байыр</a:t>
            </a:r>
            <a:r>
              <a:rPr lang="ru-RU" sz="1600" dirty="0" smtClean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sz="1600" dirty="0" err="1" smtClean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Долаан</a:t>
            </a:r>
            <a:r>
              <a:rPr lang="ru-RU" sz="1600" dirty="0" smtClean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Борисович</a:t>
            </a:r>
          </a:p>
          <a:p>
            <a:pPr marR="179070" algn="r">
              <a:lnSpc>
                <a:spcPct val="115000"/>
              </a:lnSpc>
              <a:spcAft>
                <a:spcPts val="0"/>
              </a:spcAft>
            </a:pPr>
            <a:r>
              <a:rPr lang="ru-RU" sz="1600" dirty="0" smtClean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Преподаватель кафедры информатики</a:t>
            </a:r>
          </a:p>
          <a:p>
            <a:pPr marR="179070" algn="r">
              <a:lnSpc>
                <a:spcPct val="115000"/>
              </a:lnSpc>
              <a:spcAft>
                <a:spcPts val="0"/>
              </a:spcAft>
            </a:pPr>
            <a:r>
              <a:rPr lang="ru-RU" sz="16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ФГБОУ ВО «Тувинский государственный университет»</a:t>
            </a:r>
            <a:endParaRPr lang="ru-RU" sz="1600" dirty="0" smtClean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R="179070" algn="r">
              <a:lnSpc>
                <a:spcPct val="115000"/>
              </a:lnSpc>
              <a:spcAft>
                <a:spcPts val="0"/>
              </a:spcAft>
            </a:pPr>
            <a:endParaRPr lang="ru-RU" sz="16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647824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69</TotalTime>
  <Words>529</Words>
  <Application>Microsoft Office PowerPoint</Application>
  <PresentationFormat>Широкоэкранный</PresentationFormat>
  <Paragraphs>55</Paragraphs>
  <Slides>10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10</vt:i4>
      </vt:variant>
    </vt:vector>
  </HeadingPairs>
  <TitlesOfParts>
    <vt:vector size="15" baseType="lpstr">
      <vt:lpstr>Arial</vt:lpstr>
      <vt:lpstr>Calibri</vt:lpstr>
      <vt:lpstr>Calibri Light</vt:lpstr>
      <vt:lpstr>Times New Roman</vt:lpstr>
      <vt:lpstr>Тема Office</vt:lpstr>
      <vt:lpstr>Разработка сайта для помощи  акцентирование и орфоэпических ошибок в речи иностранных студентов.</vt:lpstr>
      <vt:lpstr>ВВЕДЕНИЕ</vt:lpstr>
      <vt:lpstr>Цели и задачи </vt:lpstr>
      <vt:lpstr>Понятие акцента и его роль в речи иностранных студентов</vt:lpstr>
      <vt:lpstr>Орфоэпия как раздел фонетики и ее значение для правильного произношения</vt:lpstr>
      <vt:lpstr>Методы исправления акцентологических и орфоэпических ошибок</vt:lpstr>
      <vt:lpstr>Средства разработки</vt:lpstr>
      <vt:lpstr>Веб-сайт</vt:lpstr>
      <vt:lpstr>Заключение</vt:lpstr>
      <vt:lpstr>Разработка сайта для помощи  акцентирование и орфоэпических ошибок в речи иностранных студентов.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Dolaan Bayyr</dc:creator>
  <cp:lastModifiedBy>Dolaan Bayyr</cp:lastModifiedBy>
  <cp:revision>12</cp:revision>
  <dcterms:created xsi:type="dcterms:W3CDTF">2023-12-13T03:31:28Z</dcterms:created>
  <dcterms:modified xsi:type="dcterms:W3CDTF">2024-11-13T06:41:08Z</dcterms:modified>
</cp:coreProperties>
</file>